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8"/>
  </p:notesMasterIdLst>
  <p:handoutMasterIdLst>
    <p:handoutMasterId r:id="rId19"/>
  </p:handoutMasterIdLst>
  <p:sldIdLst>
    <p:sldId id="278" r:id="rId5"/>
    <p:sldId id="282" r:id="rId6"/>
    <p:sldId id="271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A2661D89-2535-43DF-BD6D-0DECFACAC0B2}" type="datetime1">
              <a:rPr lang="de-DE" smtClean="0"/>
              <a:t>09.12.2025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CFA70580-B89C-4157-871D-6B9318EE5F58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7C6030AF-4347-4F6A-861E-8AEA70B77203}" type="datetime1">
              <a:rPr lang="de-DE" smtClean="0"/>
              <a:t>09.12.2025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E7AF00E9-A49D-4007-B3B9-A3783809E50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674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6108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5159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4270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de-DE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gesordn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el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200">
                <a:solidFill>
                  <a:schemeClr val="tx1"/>
                </a:solidFill>
              </a:defRPr>
            </a:lvl2pPr>
            <a:lvl3pPr>
              <a:defRPr lang="de-DE" sz="1200">
                <a:solidFill>
                  <a:schemeClr val="tx1"/>
                </a:solidFill>
              </a:defRPr>
            </a:lvl3pPr>
            <a:lvl4pPr>
              <a:defRPr lang="de-DE" sz="1200">
                <a:solidFill>
                  <a:schemeClr val="tx1"/>
                </a:solidFill>
              </a:defRPr>
            </a:lvl4pPr>
            <a:lvl5pPr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Inhalt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ihand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8" name="Freihand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1" name="Ellipse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ihandform: Form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ihandform: Form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</p:grp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ihandform: Form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de-DE" sz="54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Untertitel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de-DE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3" name="Freihand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8" name="Bildplatzhalt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de-DE" sz="18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ihandform: Form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ihandform: Form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</p:grp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ihandform: Form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de-DE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de-DE" sz="1800">
                <a:solidFill>
                  <a:schemeClr val="tx1"/>
                </a:solidFill>
              </a:defRPr>
            </a:lvl1pPr>
            <a:lvl2pPr>
              <a:defRPr lang="de-DE" sz="1200">
                <a:solidFill>
                  <a:schemeClr val="tx1"/>
                </a:solidFill>
              </a:defRPr>
            </a:lvl2pPr>
            <a:lvl3pPr>
              <a:defRPr lang="de-DE" sz="1200">
                <a:solidFill>
                  <a:schemeClr val="tx1"/>
                </a:solidFill>
              </a:defRPr>
            </a:lvl3pPr>
            <a:lvl4pPr>
              <a:defRPr lang="de-DE" sz="1200">
                <a:solidFill>
                  <a:schemeClr val="tx1"/>
                </a:solidFill>
              </a:defRPr>
            </a:lvl4pPr>
            <a:lvl5pPr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de-DE" sz="54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de-DE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Bil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de-DE" sz="1800">
                <a:solidFill>
                  <a:schemeClr val="tx1"/>
                </a:solidFill>
              </a:defRPr>
            </a:lvl1pPr>
            <a:lvl2pPr algn="r">
              <a:defRPr lang="de-DE" sz="1200">
                <a:solidFill>
                  <a:schemeClr val="tx1"/>
                </a:solidFill>
              </a:defRPr>
            </a:lvl2pPr>
            <a:lvl3pPr algn="r">
              <a:defRPr lang="de-DE" sz="1200">
                <a:solidFill>
                  <a:schemeClr val="tx1"/>
                </a:solidFill>
              </a:defRPr>
            </a:lvl3pPr>
            <a:lvl4pPr algn="r">
              <a:defRPr lang="de-DE" sz="1200">
                <a:solidFill>
                  <a:schemeClr val="tx1"/>
                </a:solidFill>
              </a:defRPr>
            </a:lvl4pPr>
            <a:lvl5pPr algn="r"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reihandform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0" name="Freihandform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1" name="Freihandform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rtlCol="0" anchor="t" anchorCtr="0">
            <a:noAutofit/>
          </a:bodyPr>
          <a:lstStyle>
            <a:lvl1pPr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200">
                <a:solidFill>
                  <a:schemeClr val="tx1"/>
                </a:solidFill>
              </a:defRPr>
            </a:lvl2pPr>
            <a:lvl3pPr>
              <a:defRPr lang="de-DE" sz="1200">
                <a:solidFill>
                  <a:schemeClr val="tx1"/>
                </a:solidFill>
              </a:defRPr>
            </a:lvl3pPr>
            <a:lvl4pPr>
              <a:defRPr lang="de-DE" sz="1200">
                <a:solidFill>
                  <a:schemeClr val="tx1"/>
                </a:solidFill>
              </a:defRPr>
            </a:lvl4pPr>
            <a:lvl5pPr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 rtlCol="0">
            <a:normAutofit/>
          </a:bodyPr>
          <a:lstStyle>
            <a:lvl1pPr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Tabelle durch Klicken auf Symbol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908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ihandform: Form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5" name="Freihandform: Form 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800">
                <a:solidFill>
                  <a:schemeClr val="tx1"/>
                </a:solidFill>
              </a:defRPr>
            </a:lvl2pPr>
            <a:lvl3pPr>
              <a:defRPr lang="de-DE" sz="1800">
                <a:solidFill>
                  <a:schemeClr val="tx1"/>
                </a:solidFill>
              </a:defRPr>
            </a:lvl3pPr>
            <a:lvl4pPr>
              <a:defRPr lang="de-DE" sz="1800">
                <a:solidFill>
                  <a:schemeClr val="tx1"/>
                </a:solidFill>
              </a:defRPr>
            </a:lvl4pPr>
            <a:lvl5pPr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800">
                <a:solidFill>
                  <a:schemeClr val="tx1"/>
                </a:solidFill>
              </a:defRPr>
            </a:lvl2pPr>
            <a:lvl3pPr>
              <a:defRPr lang="de-DE" sz="1800">
                <a:solidFill>
                  <a:schemeClr val="tx1"/>
                </a:solidFill>
              </a:defRPr>
            </a:lvl3pPr>
            <a:lvl4pPr>
              <a:defRPr lang="de-DE" sz="1800">
                <a:solidFill>
                  <a:schemeClr val="tx1"/>
                </a:solidFill>
              </a:defRPr>
            </a:lvl4pPr>
            <a:lvl5pPr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rtlCol="0" anchor="t" anchorCtr="0">
            <a:noAutofit/>
          </a:bodyPr>
          <a:lstStyle>
            <a:lvl1pPr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800">
                <a:solidFill>
                  <a:schemeClr val="tx1"/>
                </a:solidFill>
              </a:defRPr>
            </a:lvl2pPr>
            <a:lvl3pPr>
              <a:defRPr lang="de-DE" sz="1800">
                <a:solidFill>
                  <a:schemeClr val="tx1"/>
                </a:solidFill>
              </a:defRPr>
            </a:lvl3pPr>
            <a:lvl4pPr>
              <a:defRPr lang="de-DE" sz="1800">
                <a:solidFill>
                  <a:schemeClr val="tx1"/>
                </a:solidFill>
              </a:defRPr>
            </a:lvl4pPr>
            <a:lvl5pPr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00879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de-DE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ihandform: Form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de-DE" sz="64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de-DE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36" name="Freihandform: Form 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de-DE"/>
            </a:defPPr>
          </a:lstStyle>
          <a:p>
            <a:pPr lvl="0" rtl="0">
              <a:lnSpc>
                <a:spcPct val="100000"/>
              </a:lnSpc>
            </a:pPr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de-DE" smtClean="0"/>
              <a:pPr rtl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698" r:id="rId6"/>
    <p:sldLayoutId id="2147483704" r:id="rId7"/>
    <p:sldLayoutId id="2147483699" r:id="rId8"/>
    <p:sldLayoutId id="2147483700" r:id="rId9"/>
    <p:sldLayoutId id="2147483688" r:id="rId10"/>
    <p:sldLayoutId id="2147483701" r:id="rId11"/>
    <p:sldLayoutId id="2147483686" r:id="rId12"/>
    <p:sldLayoutId id="2147483685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42025"/>
          </a:xfrm>
          <a:noFill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Einfache Präsentation</a:t>
            </a:r>
          </a:p>
        </p:txBody>
      </p:sp>
      <p:pic>
        <p:nvPicPr>
          <p:cNvPr id="8" name="Bildplatzhalter 13" descr="Digitaler Hintergrund für Datenpunkte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Tagesordnung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Einführung</a:t>
            </a:r>
          </a:p>
          <a:p>
            <a:pPr rtl="0"/>
            <a:r>
              <a:rPr lang="de-DE"/>
              <a:t>Vertrauen aufbauen</a:t>
            </a:r>
          </a:p>
          <a:p>
            <a:pPr rtl="0"/>
            <a:r>
              <a:rPr lang="de-DE"/>
              <a:t>Einbindung des Publikums</a:t>
            </a:r>
          </a:p>
          <a:p>
            <a:pPr rtl="0"/>
            <a:r>
              <a:rPr lang="de-DE"/>
              <a:t>Visuelle Hilfen</a:t>
            </a:r>
          </a:p>
          <a:p>
            <a:pPr rtl="0"/>
            <a:r>
              <a:rPr lang="de-DE"/>
              <a:t>Letzte Tipps und Erkenntnisse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de-DE"/>
            </a:defPPr>
          </a:lstStyle>
          <a:p>
            <a:pPr rtl="0"/>
            <a:r>
              <a:rPr lang="de-DE" dirty="0"/>
              <a:t>Die Macht der Kommunikation</a:t>
            </a:r>
          </a:p>
        </p:txBody>
      </p:sp>
      <p:pic>
        <p:nvPicPr>
          <p:cNvPr id="11" name="Bildplatzhalter 15" descr="Digitaler Hintergrund für Datenpunkte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96900"/>
            <a:ext cx="4159160" cy="3155900"/>
          </a:xfrm>
          <a:noFill/>
        </p:spPr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Nervosität überwinden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71" y="3505200"/>
            <a:ext cx="3526889" cy="2352356"/>
          </a:xfrm>
          <a:noFill/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Strategien zur Vertrauensbildung</a:t>
            </a:r>
          </a:p>
        </p:txBody>
      </p:sp>
      <p:pic>
        <p:nvPicPr>
          <p:cNvPr id="7" name="Bildplatzhalter 17" descr="Eine Person, die auf einem Whiteboard zeichnet">
            <a:extLst>
              <a:ext uri="{FF2B5EF4-FFF2-40B4-BE49-F238E27FC236}">
                <a16:creationId xmlns:a16="http://schemas.microsoft.com/office/drawing/2014/main" id="{58104626-8F66-9575-5E49-2907EACF11C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8049" y="788713"/>
            <a:ext cx="5132388" cy="5132388"/>
          </a:xfr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Einbindung des Publikums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43" y="2103039"/>
            <a:ext cx="7929940" cy="39796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Stellen Sie Augenkontakt mit Ihrem Publikum her, um ein Gefühl von Vertrautheit und Beteiligung zu erzeugen.</a:t>
            </a:r>
          </a:p>
          <a:p>
            <a:pPr rtl="0"/>
            <a:r>
              <a:rPr lang="de-DE" dirty="0"/>
              <a:t>Binden Sie glaubwürdige Geschichten in Ihre Präsentation ein und verwenden Sie Erzählungen, die Ihre Botschaft einprägsam und überzeugend machen.</a:t>
            </a:r>
          </a:p>
          <a:p>
            <a:pPr rtl="0"/>
            <a:r>
              <a:rPr lang="de-DE" dirty="0"/>
              <a:t>Ermutigen Sie zu Fragen und geben Sie durchdachte Antworten, um die Beteiligung des Publikums zu fördern.</a:t>
            </a:r>
          </a:p>
          <a:p>
            <a:pPr rtl="0"/>
            <a:r>
              <a:rPr lang="de-DE" dirty="0"/>
              <a:t>Verwenden Sie Live-Abstimmungen oder Umfragen, um die Meinung des Publikums einzuholen, das Engagement zu fördern und dafür zu sorgen, dass sich das Publikum einbezogen fühlt.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7" descr="Digitaler Hintergrund für Datenpunkte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6680"/>
            <a:ext cx="9144000" cy="228600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Auswählen visueller Hilfen</a:t>
            </a:r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6450744F-A4B6-FD90-F6DA-4EF9A192E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28600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Verbessern Ihrer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Effektive Präsentationstechniken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Dies ist ein mächtiges Werkzeug beim öffentlichen Reden. Dabei werden Tonhöhe, Tonfall und Lautstärke variiert, um Emotionen zu vermitteln, Punkte zu betonen und das Interesse aufrechtzuerhalten. </a:t>
            </a:r>
          </a:p>
          <a:p>
            <a:pPr lvl="1" rtl="0"/>
            <a:r>
              <a:rPr lang="de-DE" dirty="0"/>
              <a:t>Tonhöhenvariation</a:t>
            </a:r>
          </a:p>
          <a:p>
            <a:pPr lvl="1" rtl="0"/>
            <a:r>
              <a:rPr lang="de-DE" dirty="0"/>
              <a:t>Tonfall</a:t>
            </a:r>
          </a:p>
          <a:p>
            <a:pPr lvl="1" rtl="0"/>
            <a:r>
              <a:rPr lang="de-DE" dirty="0"/>
              <a:t>Lautstärkeregelung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5540" y="2097175"/>
            <a:ext cx="5435600" cy="399565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Eine wirkungsvolle Körpersprache unterstreicht Ihre Botschaft und macht sie eindrucksvoller und einprägsamer.</a:t>
            </a:r>
          </a:p>
          <a:p>
            <a:pPr lvl="1" rtl="0"/>
            <a:r>
              <a:rPr lang="de-DE" dirty="0"/>
              <a:t>Aussagekräftiger Augenkontakt</a:t>
            </a:r>
          </a:p>
          <a:p>
            <a:pPr lvl="1" rtl="0"/>
            <a:r>
              <a:rPr lang="de-DE" dirty="0"/>
              <a:t>Gezielte Gesten</a:t>
            </a:r>
          </a:p>
          <a:p>
            <a:pPr lvl="1" rtl="0"/>
            <a:r>
              <a:rPr lang="de-DE" dirty="0"/>
              <a:t>Gute Körperhaltung beibehalten</a:t>
            </a:r>
          </a:p>
          <a:p>
            <a:pPr lvl="1" rtl="0"/>
            <a:r>
              <a:rPr lang="de-DE" dirty="0"/>
              <a:t>Kontrollieren Ihrer Ausdrucksweise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Navigieren in Fragen-und-Antworten-Sitzungen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/>
          <a:lstStyle>
            <a:defPPr>
              <a:defRPr lang="de-DE"/>
            </a:defPPr>
          </a:lstStyle>
          <a:p>
            <a:pPr lvl="1" rtl="0"/>
            <a:r>
              <a:rPr lang="de-DE" dirty="0"/>
              <a:t>Sich im Voraus mit Ihrem Material vertraut machen</a:t>
            </a:r>
          </a:p>
          <a:p>
            <a:pPr lvl="1" rtl="0"/>
            <a:r>
              <a:rPr lang="de-DE" dirty="0"/>
              <a:t>Antizipieren von häufig gestellten Fragen</a:t>
            </a:r>
          </a:p>
          <a:p>
            <a:pPr lvl="1" rtl="0"/>
            <a:r>
              <a:rPr lang="de-DE" dirty="0"/>
              <a:t>Üben Ihrer Antworten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5539" y="2097175"/>
            <a:ext cx="5033267" cy="399565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Um Selbstvertrauen und Autorität auszudrücken, ist es wichtig, während der Frage-und-Antwort-Runde Gelassenheit zu bewahren. Beachten Sie die folgenden Tipps, um gelassen zu bleiben:</a:t>
            </a:r>
          </a:p>
          <a:p>
            <a:pPr lvl="1" rtl="0"/>
            <a:r>
              <a:rPr lang="de-DE" dirty="0"/>
              <a:t>Ruhig bleiben</a:t>
            </a:r>
          </a:p>
          <a:p>
            <a:pPr lvl="1" rtl="0"/>
            <a:r>
              <a:rPr lang="de-DE" dirty="0"/>
              <a:t>Aktiv zuhören</a:t>
            </a:r>
          </a:p>
          <a:p>
            <a:pPr lvl="1" rtl="0"/>
            <a:r>
              <a:rPr lang="de-DE" dirty="0"/>
              <a:t>Innehalten und nachdenken</a:t>
            </a:r>
          </a:p>
          <a:p>
            <a:pPr lvl="1" rtl="0"/>
            <a:r>
              <a:rPr lang="de-DE" dirty="0"/>
              <a:t>Augenkontakt beibehalten</a:t>
            </a:r>
          </a:p>
        </p:txBody>
      </p:sp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reihandform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8" name="Freihandform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196900"/>
            <a:ext cx="4899628" cy="2331490"/>
          </a:xfrm>
          <a:noFill/>
        </p:spPr>
        <p:txBody>
          <a:bodyPr rtlCol="0" anchor="b"/>
          <a:lstStyle>
            <a:defPPr>
              <a:defRPr lang="de-DE"/>
            </a:defPPr>
          </a:lstStyle>
          <a:p>
            <a:pPr rtl="0"/>
            <a:r>
              <a:rPr lang="de-DE" dirty="0"/>
              <a:t>Wirkung der Rede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162" y="2827209"/>
            <a:ext cx="4917440" cy="3442144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Ihre Fähigkeit, effektiv zu kommunizieren, wird einen bleibenden Eindruck bei Ihrem Publikum hinterlassen.</a:t>
            </a:r>
          </a:p>
          <a:p>
            <a:pPr rtl="0"/>
            <a:r>
              <a:rPr lang="de-DE" dirty="0"/>
              <a:t>Zu einer effektiven Kommunikation gehört nicht nur die Übermittlung einer Botschaft, sondern auch die Auseinandersetzung mit den Erfahrungen, Werten und Emotionen der Zuhörer.</a:t>
            </a:r>
          </a:p>
        </p:txBody>
      </p:sp>
      <p:pic>
        <p:nvPicPr>
          <p:cNvPr id="20" name="Bildplatzhalter 19" descr="Nahaufnahme eines Diagramms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6095588" y="0"/>
            <a:ext cx="6095998" cy="6858000"/>
          </a:xfr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1"/>
            <a:ext cx="11090275" cy="1237360"/>
          </a:xfrm>
          <a:noFill/>
        </p:spPr>
        <p:txBody>
          <a:bodyPr rtlCol="0" anchor="t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Dynamischer Vortrag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719" y="1917065"/>
            <a:ext cx="3095567" cy="4297680"/>
          </a:xfrm>
          <a:noFill/>
        </p:spPr>
        <p:txBody>
          <a:bodyPr vert="horz" lIns="0" tIns="0" rIns="91440" bIns="45720" rtlCol="0" anchor="t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Erfahren Sie, wie Sie Energie in Ihren Vortrag einfließen lassen, um einen bleibenden Eindruck zu hinterlassen.</a:t>
            </a:r>
          </a:p>
          <a:p>
            <a:pPr rtl="0"/>
            <a:r>
              <a:rPr lang="de-DE" dirty="0"/>
              <a:t>Eines der Ziele einer effektiven Kommunikation besteht darin, Ihre Zielgruppe zu motivieren.</a:t>
            </a:r>
          </a:p>
        </p:txBody>
      </p:sp>
      <p:graphicFrame>
        <p:nvGraphicFramePr>
          <p:cNvPr id="16" name="Tabellenplatzhalter 2">
            <a:extLst>
              <a:ext uri="{FF2B5EF4-FFF2-40B4-BE49-F238E27FC236}">
                <a16:creationId xmlns:a16="http://schemas.microsoft.com/office/drawing/2014/main" id="{1904F965-D30E-5A83-B17B-7D030326E77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95063446"/>
              </p:ext>
            </p:extLst>
          </p:nvPr>
        </p:nvGraphicFramePr>
        <p:xfrm>
          <a:off x="4048125" y="1917700"/>
          <a:ext cx="7601960" cy="429767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13770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3297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27321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580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6927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 dirty="0"/>
                        <a:t>Metrik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Messung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Ziel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Tatsächlich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Anwesenheit des Publikums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 dirty="0"/>
                        <a:t>Anzahl der Teilnehmer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150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120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Vortragsdauer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Minuten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60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75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Frage-Antwort-Interaktion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 dirty="0"/>
                        <a:t>Anzahl der Fragen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10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15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Positives Feedback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Prozentsatz (%)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90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95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951294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Rate der Informationsspeicherung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Prozentsatz (%)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80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 dirty="0"/>
                        <a:t>85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8315"/>
            <a:ext cx="11090274" cy="1332000"/>
          </a:xfrm>
          <a:noFill/>
        </p:spPr>
        <p:txBody>
          <a:bodyPr lIns="0"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Letzte Tipps und Erkenntnisse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1965095"/>
            <a:ext cx="5617182" cy="3995650"/>
          </a:xfrm>
          <a:noFill/>
        </p:spPr>
        <p:txBody>
          <a:bodyPr vert="horz" lIns="0" tIns="45720" rIns="91440" bIns="45720" rtlCol="0" anchor="t">
            <a:normAutofit fontScale="92500" lnSpcReduction="10000"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Konsequentes Üben</a:t>
            </a:r>
          </a:p>
          <a:p>
            <a:pPr lvl="1" rtl="0"/>
            <a:r>
              <a:rPr lang="de-DE" dirty="0"/>
              <a:t>Stärken Ihrer Vertrautheit</a:t>
            </a:r>
          </a:p>
          <a:p>
            <a:pPr rtl="0"/>
            <a:r>
              <a:rPr lang="de-DE" dirty="0"/>
              <a:t>Vortragsstil verfeinern</a:t>
            </a:r>
          </a:p>
          <a:p>
            <a:pPr lvl="1" rtl="0"/>
            <a:r>
              <a:rPr lang="de-DE" dirty="0"/>
              <a:t>Tempo, Tonfall und Betonung</a:t>
            </a:r>
          </a:p>
          <a:p>
            <a:pPr rtl="0"/>
            <a:r>
              <a:rPr lang="de-DE" dirty="0"/>
              <a:t>Timing und Übergänge</a:t>
            </a:r>
          </a:p>
          <a:p>
            <a:pPr lvl="1" rtl="0"/>
            <a:r>
              <a:rPr lang="de-DE" dirty="0"/>
              <a:t>Streben Sie einen nahtlosen, professionellen Vortrag an.</a:t>
            </a:r>
          </a:p>
          <a:p>
            <a:pPr rtl="0"/>
            <a:r>
              <a:rPr lang="de-DE" dirty="0"/>
              <a:t>Übungspublikum</a:t>
            </a:r>
          </a:p>
          <a:p>
            <a:pPr lvl="1" rtl="0"/>
            <a:r>
              <a:rPr lang="de-DE" dirty="0"/>
              <a:t>Bitten Sie Ihre Kollegen, zuzuhören und Feedback zu geben.</a:t>
            </a:r>
          </a:p>
          <a:p>
            <a:pPr lvl="1" rtl="0"/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1305" y="1965095"/>
            <a:ext cx="5339397" cy="3995650"/>
          </a:xfrm>
          <a:noFill/>
        </p:spPr>
        <p:txBody>
          <a:bodyPr lIns="0"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1700" dirty="0"/>
              <a:t>Feedback einholen</a:t>
            </a:r>
          </a:p>
          <a:p>
            <a:pPr rtl="0"/>
            <a:r>
              <a:rPr lang="de-DE" sz="1700" dirty="0"/>
              <a:t>Über Leistung nachdenken</a:t>
            </a:r>
          </a:p>
          <a:p>
            <a:pPr rtl="0"/>
            <a:r>
              <a:rPr lang="de-DE" sz="1700" dirty="0"/>
              <a:t>Erkunden neuer Techniken</a:t>
            </a:r>
          </a:p>
          <a:p>
            <a:pPr rtl="0"/>
            <a:r>
              <a:rPr lang="de-DE" sz="1700" dirty="0"/>
              <a:t>Persönliche Ziele festlegen</a:t>
            </a:r>
          </a:p>
          <a:p>
            <a:pPr rtl="0"/>
            <a:r>
              <a:rPr lang="de-DE" sz="1700" dirty="0"/>
              <a:t>Wiederholen und Anpassen</a:t>
            </a:r>
          </a:p>
        </p:txBody>
      </p:sp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de-DE"/>
            </a:defPPr>
          </a:lstStyle>
          <a:p>
            <a:pPr rtl="0"/>
            <a:r>
              <a:rPr lang="de-DE" dirty="0"/>
              <a:t>Metriken zum Einsatz als Referent*in</a:t>
            </a:r>
          </a:p>
        </p:txBody>
      </p:sp>
      <p:graphicFrame>
        <p:nvGraphicFramePr>
          <p:cNvPr id="13" name="Tabellenplatzhalter 3">
            <a:extLst>
              <a:ext uri="{FF2B5EF4-FFF2-40B4-BE49-F238E27FC236}">
                <a16:creationId xmlns:a16="http://schemas.microsoft.com/office/drawing/2014/main" id="{24F0E16C-0C56-89A4-2FE9-7D5EBE3963C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7261769"/>
              </p:ext>
            </p:extLst>
          </p:nvPr>
        </p:nvGraphicFramePr>
        <p:xfrm>
          <a:off x="550863" y="1917700"/>
          <a:ext cx="11090276" cy="42976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32713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391382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1851949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814232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71628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Einflussfaktor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Messung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Ziel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Erreicht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Publikumsinteraktion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Prozentsatz (%)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85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88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 dirty="0"/>
                        <a:t>Wissen bewahren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Prozentsatz (%)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75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80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 dirty="0"/>
                        <a:t>Umfragen nach der Präsentation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Durchschnittliche Bewertung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4,2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4,5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Empfehlungsrate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Prozentsatz (%)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10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12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Möglichkeiten der Zusammenarbeit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Anzahl der Möglichkeiten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/>
                        <a:t>8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algn="l" rtl="0"/>
                      <a:r>
                        <a:rPr lang="de-DE" b="0" dirty="0"/>
                        <a:t>10</a:t>
                      </a:r>
                      <a:endParaRPr lang="de-DE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46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Vielen Dank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Brita Tamm</a:t>
            </a:r>
          </a:p>
          <a:p>
            <a:pPr rtl="0"/>
            <a:r>
              <a:rPr lang="de-DE"/>
              <a:t>502-555-0152</a:t>
            </a:r>
          </a:p>
          <a:p>
            <a:pPr rtl="0"/>
            <a:r>
              <a:rPr lang="de-DE"/>
              <a:t>brita@firstupconsultants.com</a:t>
            </a:r>
          </a:p>
          <a:p>
            <a:pPr rtl="0"/>
            <a:r>
              <a:rPr lang="de-DE"/>
              <a:t>www.firstupconsultants.com</a:t>
            </a:r>
          </a:p>
        </p:txBody>
      </p:sp>
      <p:pic>
        <p:nvPicPr>
          <p:cNvPr id="25" name="Bildplatzhalter 24" descr="Nahaufnahme eines Netzwerks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0_TF33713516_Win32" id="{FA432118-3671-4A9A-B6AE-C8E661E198BC}" vid="{CDB7179C-22AA-4A70-AACE-21A927A13D6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{A77FD82B-285A-42EB-8CBE-72AA979F2122}tf33713516_win32</Template>
  <TotalTime>0</TotalTime>
  <Words>474</Words>
  <Application>Microsoft Office PowerPoint</Application>
  <PresentationFormat>Breitbild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Walbaum Display</vt:lpstr>
      <vt:lpstr>3DFloatVTI</vt:lpstr>
      <vt:lpstr>Einfache Präsentation</vt:lpstr>
      <vt:lpstr>Tagesordnung</vt:lpstr>
      <vt:lpstr>Die Macht der Kommunikation</vt:lpstr>
      <vt:lpstr>Nervosität überwinden</vt:lpstr>
      <vt:lpstr>Einbindung des Publikums</vt:lpstr>
      <vt:lpstr>Auswählen visueller Hilfen</vt:lpstr>
      <vt:lpstr>Effektive Präsentationstechniken</vt:lpstr>
      <vt:lpstr>Navigieren in Fragen-und-Antworten-Sitzungen</vt:lpstr>
      <vt:lpstr>Wirkung der Rede</vt:lpstr>
      <vt:lpstr>Dynamischer Vortrag</vt:lpstr>
      <vt:lpstr>Letzte Tipps und Erkenntnisse</vt:lpstr>
      <vt:lpstr>Metriken zum Einsatz als Referent*in</vt:lpstr>
      <vt:lpstr>Vielen Dank</vt:lpstr>
    </vt:vector>
  </TitlesOfParts>
  <Company>Nicolay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Velasco</dc:creator>
  <cp:lastModifiedBy>Gabriela Velasco</cp:lastModifiedBy>
  <cp:revision>1</cp:revision>
  <dcterms:created xsi:type="dcterms:W3CDTF">2025-12-09T11:29:50Z</dcterms:created>
  <dcterms:modified xsi:type="dcterms:W3CDTF">2025-12-09T11:31:30Z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